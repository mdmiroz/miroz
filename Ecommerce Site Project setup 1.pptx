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7" r:id="rId1"/>
  </p:sldMasterIdLst>
  <p:sldIdLst>
    <p:sldId id="256" r:id="rId2"/>
    <p:sldId id="266" r:id="rId3"/>
    <p:sldId id="267" r:id="rId4"/>
    <p:sldId id="268" r:id="rId5"/>
    <p:sldId id="269" r:id="rId6"/>
    <p:sldId id="270" r:id="rId7"/>
    <p:sldId id="272" r:id="rId8"/>
    <p:sldId id="273" r:id="rId9"/>
    <p:sldId id="271" r:id="rId10"/>
    <p:sldId id="257" r:id="rId11"/>
    <p:sldId id="258" r:id="rId12"/>
    <p:sldId id="259" r:id="rId13"/>
    <p:sldId id="260" r:id="rId14"/>
    <p:sldId id="261" r:id="rId15"/>
    <p:sldId id="262" r:id="rId16"/>
    <p:sldId id="263" r:id="rId17"/>
    <p:sldId id="264" r:id="rId18"/>
    <p:sldId id="265"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9D4E38-E976-49DE-872C-B0560A83004E}" type="datetimeFigureOut">
              <a:rPr lang="en-US" smtClean="0"/>
              <a:t>2/12/2025</a:t>
            </a:fld>
            <a:endParaRPr lang="en-US"/>
          </a:p>
        </p:txBody>
      </p:sp>
      <p:sp>
        <p:nvSpPr>
          <p:cNvPr id="5" name="Footer Placeholder 4"/>
          <p:cNvSpPr>
            <a:spLocks noGrp="1"/>
          </p:cNvSpPr>
          <p:nvPr>
            <p:ph type="ftr" sz="quarter" idx="11"/>
          </p:nvPr>
        </p:nvSpPr>
        <p:spPr>
          <a:xfrm>
            <a:off x="2493105" y="329307"/>
            <a:ext cx="4897310"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7D9DA1FA-21C8-42AC-945C-82D0406FB2C1}" type="slidenum">
              <a:rPr lang="en-US" smtClean="0"/>
              <a:t>‹#›</a:t>
            </a:fld>
            <a:endParaRPr lang="en-US"/>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54617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9D4E38-E976-49DE-872C-B0560A83004E}"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9DA1FA-21C8-42AC-945C-82D0406FB2C1}"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08084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9D4E38-E976-49DE-872C-B0560A83004E}"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9DA1FA-21C8-42AC-945C-82D0406FB2C1}" type="slidenum">
              <a:rPr lang="en-US" smtClean="0"/>
              <a:t>‹#›</a:t>
            </a:fld>
            <a:endParaRPr lang="en-US"/>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49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9D4E38-E976-49DE-872C-B0560A83004E}"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9DA1FA-21C8-42AC-945C-82D0406FB2C1}" type="slidenum">
              <a:rPr lang="en-US" smtClean="0"/>
              <a:t>‹#›</a:t>
            </a:fld>
            <a:endParaRPr lang="en-US"/>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7173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9D4E38-E976-49DE-872C-B0560A83004E}"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9DA1FA-21C8-42AC-945C-82D0406FB2C1}" type="slidenum">
              <a:rPr lang="en-US" smtClean="0"/>
              <a:t>‹#›</a:t>
            </a:fld>
            <a:endParaRPr lang="en-US"/>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326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9D4E38-E976-49DE-872C-B0560A83004E}"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9DA1FA-21C8-42AC-945C-82D0406FB2C1}" type="slidenum">
              <a:rPr lang="en-US" smtClean="0"/>
              <a:t>‹#›</a:t>
            </a:fld>
            <a:endParaRPr lang="en-US"/>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0193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9D4E38-E976-49DE-872C-B0560A83004E}" type="datetimeFigureOut">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9DA1FA-21C8-42AC-945C-82D0406FB2C1}" type="slidenum">
              <a:rPr lang="en-US" smtClean="0"/>
              <a:t>‹#›</a:t>
            </a:fld>
            <a:endParaRPr lang="en-US"/>
          </a:p>
        </p:txBody>
      </p:sp>
    </p:spTree>
    <p:extLst>
      <p:ext uri="{BB962C8B-B14F-4D97-AF65-F5344CB8AC3E}">
        <p14:creationId xmlns:p14="http://schemas.microsoft.com/office/powerpoint/2010/main" val="110840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9D4E38-E976-49DE-872C-B0560A83004E}"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9DA1FA-21C8-42AC-945C-82D0406FB2C1}" type="slidenum">
              <a:rPr lang="en-US" smtClean="0"/>
              <a:t>‹#›</a:t>
            </a:fld>
            <a:endParaRPr lang="en-US"/>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3623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2A9D4E38-E976-49DE-872C-B0560A83004E}" type="datetimeFigureOut">
              <a:rPr lang="en-US" smtClean="0"/>
              <a:t>2/12/2025</a:t>
            </a:fld>
            <a:endParaRPr lang="en-US"/>
          </a:p>
        </p:txBody>
      </p:sp>
      <p:sp>
        <p:nvSpPr>
          <p:cNvPr id="6" name="Footer Placeholder 5"/>
          <p:cNvSpPr>
            <a:spLocks noGrp="1"/>
          </p:cNvSpPr>
          <p:nvPr>
            <p:ph type="ftr" sz="quarter" idx="11"/>
          </p:nvPr>
        </p:nvSpPr>
        <p:spPr>
          <a:xfrm>
            <a:off x="1534910" y="318640"/>
            <a:ext cx="5453475" cy="320931"/>
          </a:xfrm>
        </p:spPr>
        <p:txBody>
          <a:bodyPr/>
          <a:lstStyle/>
          <a:p>
            <a:endParaRPr lang="en-US"/>
          </a:p>
        </p:txBody>
      </p:sp>
      <p:sp>
        <p:nvSpPr>
          <p:cNvPr id="7" name="Slide Number Placeholder 6"/>
          <p:cNvSpPr>
            <a:spLocks noGrp="1"/>
          </p:cNvSpPr>
          <p:nvPr>
            <p:ph type="sldNum" sz="quarter" idx="12"/>
          </p:nvPr>
        </p:nvSpPr>
        <p:spPr/>
        <p:txBody>
          <a:bodyPr/>
          <a:lstStyle/>
          <a:p>
            <a:fld id="{7D9DA1FA-21C8-42AC-945C-82D0406FB2C1}" type="slidenum">
              <a:rPr lang="en-US" smtClean="0"/>
              <a:t>‹#›</a:t>
            </a:fld>
            <a:endParaRPr lang="en-US"/>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1418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9D4E38-E976-49DE-872C-B0560A83004E}"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9DA1FA-21C8-42AC-945C-82D0406FB2C1}" type="slidenum">
              <a:rPr lang="en-US" smtClean="0"/>
              <a:t>‹#›</a:t>
            </a:fld>
            <a:endParaRPr lang="en-US"/>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937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9D4E38-E976-49DE-872C-B0560A83004E}"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9DA1FA-21C8-42AC-945C-82D0406FB2C1}" type="slidenum">
              <a:rPr lang="en-US" smtClean="0"/>
              <a:t>‹#›</a:t>
            </a:fld>
            <a:endParaRPr lang="en-US"/>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7661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A9D4E38-E976-49DE-872C-B0560A83004E}" type="datetimeFigureOut">
              <a:rPr lang="en-US" smtClean="0"/>
              <a:t>2/12/2025</a:t>
            </a:fld>
            <a:endParaRPr lang="en-US"/>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D9DA1FA-21C8-42AC-945C-82D0406FB2C1}" type="slidenum">
              <a:rPr lang="en-US" smtClean="0"/>
              <a:t>‹#›</a:t>
            </a:fld>
            <a:endParaRPr lang="en-US"/>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5212620"/>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2E40D-B2DB-4375-BF4E-F2C293551C97}"/>
              </a:ext>
            </a:extLst>
          </p:cNvPr>
          <p:cNvSpPr>
            <a:spLocks noGrp="1"/>
          </p:cNvSpPr>
          <p:nvPr>
            <p:ph type="ctrTitle"/>
          </p:nvPr>
        </p:nvSpPr>
        <p:spPr/>
        <p:txBody>
          <a:bodyPr>
            <a:normAutofit fontScale="90000"/>
          </a:bodyPr>
          <a:lstStyle/>
          <a:p>
            <a:r>
              <a:rPr lang="en-US" dirty="0" err="1">
                <a:solidFill>
                  <a:schemeClr val="accent1">
                    <a:lumMod val="50000"/>
                  </a:schemeClr>
                </a:solidFill>
              </a:rPr>
              <a:t>Rajshahi</a:t>
            </a:r>
            <a:r>
              <a:rPr lang="en-US" dirty="0">
                <a:solidFill>
                  <a:schemeClr val="accent1">
                    <a:lumMod val="50000"/>
                  </a:schemeClr>
                </a:solidFill>
              </a:rPr>
              <a:t> </a:t>
            </a:r>
            <a:r>
              <a:rPr lang="en-US" dirty="0" err="1">
                <a:solidFill>
                  <a:schemeClr val="accent1">
                    <a:lumMod val="50000"/>
                  </a:schemeClr>
                </a:solidFill>
              </a:rPr>
              <a:t>Mohila</a:t>
            </a:r>
            <a:r>
              <a:rPr lang="en-US" dirty="0">
                <a:solidFill>
                  <a:schemeClr val="accent1">
                    <a:lumMod val="50000"/>
                  </a:schemeClr>
                </a:solidFill>
              </a:rPr>
              <a:t> Polytechnic Institute, </a:t>
            </a:r>
            <a:r>
              <a:rPr lang="en-US" dirty="0" err="1">
                <a:solidFill>
                  <a:schemeClr val="accent1">
                    <a:lumMod val="50000"/>
                  </a:schemeClr>
                </a:solidFill>
              </a:rPr>
              <a:t>Rajshahi</a:t>
            </a:r>
            <a:r>
              <a:rPr lang="en-US" dirty="0">
                <a:solidFill>
                  <a:schemeClr val="accent1">
                    <a:lumMod val="50000"/>
                  </a:schemeClr>
                </a:solidFill>
              </a:rPr>
              <a:t>.</a:t>
            </a:r>
          </a:p>
        </p:txBody>
      </p:sp>
      <p:sp>
        <p:nvSpPr>
          <p:cNvPr id="3" name="Subtitle 2">
            <a:extLst>
              <a:ext uri="{FF2B5EF4-FFF2-40B4-BE49-F238E27FC236}">
                <a16:creationId xmlns:a16="http://schemas.microsoft.com/office/drawing/2014/main" id="{8AC1942E-D189-4491-8BE5-E44B9120424A}"/>
              </a:ext>
            </a:extLst>
          </p:cNvPr>
          <p:cNvSpPr>
            <a:spLocks noGrp="1"/>
          </p:cNvSpPr>
          <p:nvPr>
            <p:ph type="subTitle" idx="1"/>
          </p:nvPr>
        </p:nvSpPr>
        <p:spPr/>
        <p:txBody>
          <a:bodyPr/>
          <a:lstStyle/>
          <a:p>
            <a:r>
              <a:rPr lang="en-US" dirty="0"/>
              <a:t>CST 7</a:t>
            </a:r>
            <a:r>
              <a:rPr lang="en-US" baseline="30000" dirty="0"/>
              <a:t>th</a:t>
            </a:r>
            <a:r>
              <a:rPr lang="en-US" dirty="0"/>
              <a:t> Semester 	2</a:t>
            </a:r>
            <a:r>
              <a:rPr lang="en-US" baseline="30000" dirty="0"/>
              <a:t>nd</a:t>
            </a:r>
            <a:r>
              <a:rPr lang="en-US" dirty="0"/>
              <a:t> shift</a:t>
            </a:r>
          </a:p>
        </p:txBody>
      </p:sp>
      <p:sp>
        <p:nvSpPr>
          <p:cNvPr id="4" name="Title 1">
            <a:extLst>
              <a:ext uri="{FF2B5EF4-FFF2-40B4-BE49-F238E27FC236}">
                <a16:creationId xmlns:a16="http://schemas.microsoft.com/office/drawing/2014/main" id="{B93A7AED-E6B8-4619-96AC-C80A10D65C3D}"/>
              </a:ext>
            </a:extLst>
          </p:cNvPr>
          <p:cNvSpPr txBox="1">
            <a:spLocks/>
          </p:cNvSpPr>
          <p:nvPr/>
        </p:nvSpPr>
        <p:spPr>
          <a:xfrm>
            <a:off x="164387" y="4212404"/>
            <a:ext cx="11630346" cy="22391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schemeClr val="tx1">
                    <a:lumMod val="75000"/>
                    <a:lumOff val="25000"/>
                  </a:schemeClr>
                </a:solidFill>
              </a:rPr>
              <a:t>Project Name: </a:t>
            </a:r>
            <a:r>
              <a:rPr lang="en-US" sz="4800" dirty="0">
                <a:solidFill>
                  <a:schemeClr val="tx1">
                    <a:lumMod val="75000"/>
                    <a:lumOff val="25000"/>
                  </a:schemeClr>
                </a:solidFill>
              </a:rPr>
              <a:t>E-commerce Website</a:t>
            </a:r>
          </a:p>
        </p:txBody>
      </p:sp>
    </p:spTree>
    <p:extLst>
      <p:ext uri="{BB962C8B-B14F-4D97-AF65-F5344CB8AC3E}">
        <p14:creationId xmlns:p14="http://schemas.microsoft.com/office/powerpoint/2010/main" val="2119783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26BC-D609-4B45-AE9D-40CD25028D76}"/>
              </a:ext>
            </a:extLst>
          </p:cNvPr>
          <p:cNvSpPr>
            <a:spLocks noGrp="1"/>
          </p:cNvSpPr>
          <p:nvPr>
            <p:ph type="title"/>
          </p:nvPr>
        </p:nvSpPr>
        <p:spPr/>
        <p:txBody>
          <a:bodyPr/>
          <a:lstStyle/>
          <a:p>
            <a:pPr algn="l"/>
            <a:r>
              <a:rPr lang="en-US" dirty="0"/>
              <a:t>What is Django?</a:t>
            </a:r>
          </a:p>
        </p:txBody>
      </p:sp>
      <p:sp>
        <p:nvSpPr>
          <p:cNvPr id="3" name="Content Placeholder 2">
            <a:extLst>
              <a:ext uri="{FF2B5EF4-FFF2-40B4-BE49-F238E27FC236}">
                <a16:creationId xmlns:a16="http://schemas.microsoft.com/office/drawing/2014/main" id="{B2D65724-698B-4283-B949-28C170E5565B}"/>
              </a:ext>
            </a:extLst>
          </p:cNvPr>
          <p:cNvSpPr>
            <a:spLocks noGrp="1"/>
          </p:cNvSpPr>
          <p:nvPr>
            <p:ph idx="1"/>
          </p:nvPr>
        </p:nvSpPr>
        <p:spPr/>
        <p:txBody>
          <a:bodyPr/>
          <a:lstStyle/>
          <a:p>
            <a:r>
              <a:rPr lang="en-US" dirty="0"/>
              <a:t>Django is a web application framework written in Python programming language. Django helps eliminate repetitive tasks making the development process an easy and time saving experience.</a:t>
            </a:r>
          </a:p>
        </p:txBody>
      </p:sp>
    </p:spTree>
    <p:extLst>
      <p:ext uri="{BB962C8B-B14F-4D97-AF65-F5344CB8AC3E}">
        <p14:creationId xmlns:p14="http://schemas.microsoft.com/office/powerpoint/2010/main" val="1883814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416C0-5831-455C-A9BE-01A301991F8B}"/>
              </a:ext>
            </a:extLst>
          </p:cNvPr>
          <p:cNvSpPr>
            <a:spLocks noGrp="1"/>
          </p:cNvSpPr>
          <p:nvPr>
            <p:ph type="title"/>
          </p:nvPr>
        </p:nvSpPr>
        <p:spPr/>
        <p:txBody>
          <a:bodyPr/>
          <a:lstStyle/>
          <a:p>
            <a:r>
              <a:rPr lang="en-US" dirty="0"/>
              <a:t>What is Framework? </a:t>
            </a:r>
          </a:p>
        </p:txBody>
      </p:sp>
      <p:pic>
        <p:nvPicPr>
          <p:cNvPr id="4" name="Content Placeholder 3">
            <a:extLst>
              <a:ext uri="{FF2B5EF4-FFF2-40B4-BE49-F238E27FC236}">
                <a16:creationId xmlns:a16="http://schemas.microsoft.com/office/drawing/2014/main" id="{FA376E71-F33C-4F65-A6FA-CBF308A6FC9E}"/>
              </a:ext>
            </a:extLst>
          </p:cNvPr>
          <p:cNvPicPr>
            <a:picLocks noGrp="1" noChangeAspect="1"/>
          </p:cNvPicPr>
          <p:nvPr>
            <p:ph idx="1"/>
          </p:nvPr>
        </p:nvPicPr>
        <p:blipFill>
          <a:blip r:embed="rId2"/>
          <a:stretch>
            <a:fillRect/>
          </a:stretch>
        </p:blipFill>
        <p:spPr>
          <a:xfrm>
            <a:off x="2349726" y="2888757"/>
            <a:ext cx="2905125" cy="1762125"/>
          </a:xfrm>
          <a:prstGeom prst="rect">
            <a:avLst/>
          </a:prstGeom>
        </p:spPr>
      </p:pic>
      <p:pic>
        <p:nvPicPr>
          <p:cNvPr id="5" name="Picture 4">
            <a:extLst>
              <a:ext uri="{FF2B5EF4-FFF2-40B4-BE49-F238E27FC236}">
                <a16:creationId xmlns:a16="http://schemas.microsoft.com/office/drawing/2014/main" id="{DB758529-B690-4963-95E0-C9BEDBAC637B}"/>
              </a:ext>
            </a:extLst>
          </p:cNvPr>
          <p:cNvPicPr>
            <a:picLocks noChangeAspect="1"/>
          </p:cNvPicPr>
          <p:nvPr/>
        </p:nvPicPr>
        <p:blipFill>
          <a:blip r:embed="rId3"/>
          <a:stretch>
            <a:fillRect/>
          </a:stretch>
        </p:blipFill>
        <p:spPr>
          <a:xfrm>
            <a:off x="8237311" y="2869707"/>
            <a:ext cx="3209925" cy="1781175"/>
          </a:xfrm>
          <a:prstGeom prst="rect">
            <a:avLst/>
          </a:prstGeom>
        </p:spPr>
      </p:pic>
      <p:sp>
        <p:nvSpPr>
          <p:cNvPr id="6" name="Arrow: Right 5">
            <a:extLst>
              <a:ext uri="{FF2B5EF4-FFF2-40B4-BE49-F238E27FC236}">
                <a16:creationId xmlns:a16="http://schemas.microsoft.com/office/drawing/2014/main" id="{0D193BFA-60F8-40EE-B186-14F94F2CF375}"/>
              </a:ext>
            </a:extLst>
          </p:cNvPr>
          <p:cNvSpPr/>
          <p:nvPr/>
        </p:nvSpPr>
        <p:spPr>
          <a:xfrm>
            <a:off x="6015789" y="3599848"/>
            <a:ext cx="1694047" cy="346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137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B871-63B0-451B-B9E5-8DA17686E79A}"/>
              </a:ext>
            </a:extLst>
          </p:cNvPr>
          <p:cNvSpPr>
            <a:spLocks noGrp="1"/>
          </p:cNvSpPr>
          <p:nvPr>
            <p:ph type="title"/>
          </p:nvPr>
        </p:nvSpPr>
        <p:spPr/>
        <p:txBody>
          <a:bodyPr/>
          <a:lstStyle/>
          <a:p>
            <a:r>
              <a:rPr lang="en-US" dirty="0"/>
              <a:t>How to Django Works? </a:t>
            </a:r>
          </a:p>
        </p:txBody>
      </p:sp>
      <p:sp>
        <p:nvSpPr>
          <p:cNvPr id="3" name="Content Placeholder 2">
            <a:extLst>
              <a:ext uri="{FF2B5EF4-FFF2-40B4-BE49-F238E27FC236}">
                <a16:creationId xmlns:a16="http://schemas.microsoft.com/office/drawing/2014/main" id="{2CA78BA7-1876-4081-94F2-3F59186FD550}"/>
              </a:ext>
            </a:extLst>
          </p:cNvPr>
          <p:cNvSpPr>
            <a:spLocks noGrp="1"/>
          </p:cNvSpPr>
          <p:nvPr>
            <p:ph idx="1"/>
          </p:nvPr>
        </p:nvSpPr>
        <p:spPr/>
        <p:txBody>
          <a:bodyPr/>
          <a:lstStyle/>
          <a:p>
            <a:r>
              <a:rPr lang="en-US" dirty="0"/>
              <a:t>Django is based on MVT architecture. MVT is a software design pattern for developing a web application.</a:t>
            </a:r>
          </a:p>
          <a:p>
            <a:endParaRPr lang="en-US" dirty="0"/>
          </a:p>
          <a:p>
            <a:pPr marL="0" indent="0" algn="ctr">
              <a:buNone/>
            </a:pPr>
            <a:r>
              <a:rPr lang="en-US" dirty="0"/>
              <a:t>M	V	T	</a:t>
            </a:r>
          </a:p>
          <a:p>
            <a:pPr marL="0" indent="0" algn="ctr">
              <a:buNone/>
            </a:pPr>
            <a:endParaRPr lang="en-US" dirty="0"/>
          </a:p>
          <a:p>
            <a:pPr marL="0" indent="0" algn="ctr">
              <a:buNone/>
            </a:pPr>
            <a:r>
              <a:rPr lang="en-US" dirty="0"/>
              <a:t>Model	     View	    Template 	</a:t>
            </a:r>
          </a:p>
        </p:txBody>
      </p:sp>
      <p:sp>
        <p:nvSpPr>
          <p:cNvPr id="6" name="Arrow: Down 5">
            <a:extLst>
              <a:ext uri="{FF2B5EF4-FFF2-40B4-BE49-F238E27FC236}">
                <a16:creationId xmlns:a16="http://schemas.microsoft.com/office/drawing/2014/main" id="{C90849FF-8EAF-4E4E-8300-FECD145E759C}"/>
              </a:ext>
            </a:extLst>
          </p:cNvPr>
          <p:cNvSpPr/>
          <p:nvPr/>
        </p:nvSpPr>
        <p:spPr>
          <a:xfrm>
            <a:off x="4969844" y="3864542"/>
            <a:ext cx="134754" cy="4523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DAB2F460-BD2C-40F1-94DA-57614969B65A}"/>
              </a:ext>
            </a:extLst>
          </p:cNvPr>
          <p:cNvSpPr/>
          <p:nvPr/>
        </p:nvSpPr>
        <p:spPr>
          <a:xfrm>
            <a:off x="5844940" y="3864542"/>
            <a:ext cx="134754" cy="4523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DC40DF95-4CFF-487D-8F9B-962C056AFE5F}"/>
              </a:ext>
            </a:extLst>
          </p:cNvPr>
          <p:cNvSpPr/>
          <p:nvPr/>
        </p:nvSpPr>
        <p:spPr>
          <a:xfrm>
            <a:off x="6787413" y="3850105"/>
            <a:ext cx="181129" cy="4523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425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21FAD-2D10-4341-AF41-5B9FD434C0EE}"/>
              </a:ext>
            </a:extLst>
          </p:cNvPr>
          <p:cNvSpPr>
            <a:spLocks noGrp="1"/>
          </p:cNvSpPr>
          <p:nvPr>
            <p:ph type="title"/>
          </p:nvPr>
        </p:nvSpPr>
        <p:spPr>
          <a:xfrm>
            <a:off x="1534696" y="804520"/>
            <a:ext cx="8899089" cy="389014"/>
          </a:xfrm>
        </p:spPr>
        <p:txBody>
          <a:bodyPr>
            <a:normAutofit fontScale="90000"/>
          </a:bodyPr>
          <a:lstStyle/>
          <a:p>
            <a:r>
              <a:rPr lang="en-US" dirty="0"/>
              <a:t>What is MVT? </a:t>
            </a:r>
          </a:p>
        </p:txBody>
      </p:sp>
      <p:sp>
        <p:nvSpPr>
          <p:cNvPr id="3" name="Content Placeholder 2">
            <a:extLst>
              <a:ext uri="{FF2B5EF4-FFF2-40B4-BE49-F238E27FC236}">
                <a16:creationId xmlns:a16="http://schemas.microsoft.com/office/drawing/2014/main" id="{FDDFDBAF-6DC1-43FA-831F-504956B0C5BD}"/>
              </a:ext>
            </a:extLst>
          </p:cNvPr>
          <p:cNvSpPr>
            <a:spLocks noGrp="1"/>
          </p:cNvSpPr>
          <p:nvPr>
            <p:ph idx="1"/>
          </p:nvPr>
        </p:nvSpPr>
        <p:spPr>
          <a:xfrm>
            <a:off x="394636" y="1270536"/>
            <a:ext cx="10660218" cy="4581624"/>
          </a:xfrm>
        </p:spPr>
        <p:txBody>
          <a:bodyPr>
            <a:normAutofit/>
          </a:bodyPr>
          <a:lstStyle/>
          <a:p>
            <a:pPr marL="0" indent="0">
              <a:buNone/>
            </a:pPr>
            <a:r>
              <a:rPr lang="en-US" b="1" dirty="0"/>
              <a:t> Model: </a:t>
            </a:r>
            <a:r>
              <a:rPr lang="en-US" dirty="0"/>
              <a:t>This is an abstraction layer for structuring and manipulating the data of the Web Application. It acts as an interface for maintaining data. This is a logical data structure behind the entire application and helps to handle the database.</a:t>
            </a:r>
          </a:p>
          <a:p>
            <a:pPr marL="0" indent="0">
              <a:buNone/>
            </a:pPr>
            <a:r>
              <a:rPr lang="en-US" dirty="0"/>
              <a:t> </a:t>
            </a:r>
            <a:r>
              <a:rPr lang="en-US" b="1" dirty="0"/>
              <a:t> View: </a:t>
            </a:r>
            <a:r>
              <a:rPr lang="en-US" dirty="0"/>
              <a:t>This layer encapsulates the logic responsible for processing a user’s request and returns a response. It is a user interface to execute the logic and interact with the models. It is responsible for displaying all or a portion of data to the user.</a:t>
            </a:r>
          </a:p>
          <a:p>
            <a:pPr marL="0" indent="0">
              <a:buNone/>
            </a:pPr>
            <a:r>
              <a:rPr lang="en-US" b="1" dirty="0"/>
              <a:t>  Template: </a:t>
            </a:r>
            <a:r>
              <a:rPr lang="en-US" dirty="0"/>
              <a:t>The template layer provides a designer-friendly syntax for rendering the information to be presented to the user. It contains the static parts of the desired HTML output along with some special syntax, also known as Django Template Language (DTL). </a:t>
            </a:r>
          </a:p>
        </p:txBody>
      </p:sp>
    </p:spTree>
    <p:extLst>
      <p:ext uri="{BB962C8B-B14F-4D97-AF65-F5344CB8AC3E}">
        <p14:creationId xmlns:p14="http://schemas.microsoft.com/office/powerpoint/2010/main" val="2824601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34885-A572-48B1-A703-3CE2D1959D1D}"/>
              </a:ext>
            </a:extLst>
          </p:cNvPr>
          <p:cNvSpPr>
            <a:spLocks noGrp="1"/>
          </p:cNvSpPr>
          <p:nvPr>
            <p:ph type="title"/>
          </p:nvPr>
        </p:nvSpPr>
        <p:spPr/>
        <p:txBody>
          <a:bodyPr/>
          <a:lstStyle/>
          <a:p>
            <a:r>
              <a:rPr lang="en-US" dirty="0"/>
              <a:t>MVT Structure? </a:t>
            </a:r>
          </a:p>
        </p:txBody>
      </p:sp>
      <p:pic>
        <p:nvPicPr>
          <p:cNvPr id="4" name="Content Placeholder 3">
            <a:extLst>
              <a:ext uri="{FF2B5EF4-FFF2-40B4-BE49-F238E27FC236}">
                <a16:creationId xmlns:a16="http://schemas.microsoft.com/office/drawing/2014/main" id="{03222CF6-40C2-4FC0-8974-7C121A8B06EC}"/>
              </a:ext>
            </a:extLst>
          </p:cNvPr>
          <p:cNvPicPr>
            <a:picLocks noGrp="1" noChangeAspect="1"/>
          </p:cNvPicPr>
          <p:nvPr>
            <p:ph idx="1"/>
          </p:nvPr>
        </p:nvPicPr>
        <p:blipFill>
          <a:blip r:embed="rId2"/>
          <a:stretch>
            <a:fillRect/>
          </a:stretch>
        </p:blipFill>
        <p:spPr>
          <a:xfrm>
            <a:off x="2395325" y="2016125"/>
            <a:ext cx="7799813" cy="3449638"/>
          </a:xfrm>
          <a:prstGeom prst="rect">
            <a:avLst/>
          </a:prstGeom>
        </p:spPr>
      </p:pic>
    </p:spTree>
    <p:extLst>
      <p:ext uri="{BB962C8B-B14F-4D97-AF65-F5344CB8AC3E}">
        <p14:creationId xmlns:p14="http://schemas.microsoft.com/office/powerpoint/2010/main" val="214479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E2E20-CEC4-4438-B2B4-B8248E204BC9}"/>
              </a:ext>
            </a:extLst>
          </p:cNvPr>
          <p:cNvSpPr>
            <a:spLocks noGrp="1"/>
          </p:cNvSpPr>
          <p:nvPr>
            <p:ph type="title"/>
          </p:nvPr>
        </p:nvSpPr>
        <p:spPr/>
        <p:txBody>
          <a:bodyPr/>
          <a:lstStyle/>
          <a:p>
            <a:r>
              <a:rPr lang="en-US" dirty="0"/>
              <a:t>Environment Setup </a:t>
            </a:r>
          </a:p>
        </p:txBody>
      </p:sp>
      <p:sp>
        <p:nvSpPr>
          <p:cNvPr id="3" name="Content Placeholder 2">
            <a:extLst>
              <a:ext uri="{FF2B5EF4-FFF2-40B4-BE49-F238E27FC236}">
                <a16:creationId xmlns:a16="http://schemas.microsoft.com/office/drawing/2014/main" id="{784338FF-D0C3-4BC1-B7F4-3B255C362E3E}"/>
              </a:ext>
            </a:extLst>
          </p:cNvPr>
          <p:cNvSpPr>
            <a:spLocks noGrp="1"/>
          </p:cNvSpPr>
          <p:nvPr>
            <p:ph idx="1"/>
          </p:nvPr>
        </p:nvSpPr>
        <p:spPr>
          <a:xfrm>
            <a:off x="2444816" y="2897204"/>
            <a:ext cx="8610037" cy="2569141"/>
          </a:xfrm>
        </p:spPr>
        <p:txBody>
          <a:bodyPr/>
          <a:lstStyle/>
          <a:p>
            <a:r>
              <a:rPr lang="en-US" dirty="0"/>
              <a:t> Visual Studio Code Install </a:t>
            </a:r>
          </a:p>
          <a:p>
            <a:r>
              <a:rPr lang="en-US" dirty="0"/>
              <a:t> Extension Install inside Vs code. </a:t>
            </a:r>
          </a:p>
        </p:txBody>
      </p:sp>
    </p:spTree>
    <p:extLst>
      <p:ext uri="{BB962C8B-B14F-4D97-AF65-F5344CB8AC3E}">
        <p14:creationId xmlns:p14="http://schemas.microsoft.com/office/powerpoint/2010/main" val="2142447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9C93-0C0D-46CB-9E3F-9E5292368263}"/>
              </a:ext>
            </a:extLst>
          </p:cNvPr>
          <p:cNvSpPr>
            <a:spLocks noGrp="1"/>
          </p:cNvSpPr>
          <p:nvPr>
            <p:ph type="title"/>
          </p:nvPr>
        </p:nvSpPr>
        <p:spPr/>
        <p:txBody>
          <a:bodyPr/>
          <a:lstStyle/>
          <a:p>
            <a:r>
              <a:rPr lang="en-US" dirty="0"/>
              <a:t>How to Create Project &amp; App </a:t>
            </a:r>
          </a:p>
        </p:txBody>
      </p:sp>
      <p:sp>
        <p:nvSpPr>
          <p:cNvPr id="3" name="Content Placeholder 2">
            <a:extLst>
              <a:ext uri="{FF2B5EF4-FFF2-40B4-BE49-F238E27FC236}">
                <a16:creationId xmlns:a16="http://schemas.microsoft.com/office/drawing/2014/main" id="{575CE6CE-1DF5-4D05-9175-6AD79DBCDDD8}"/>
              </a:ext>
            </a:extLst>
          </p:cNvPr>
          <p:cNvSpPr>
            <a:spLocks noGrp="1"/>
          </p:cNvSpPr>
          <p:nvPr>
            <p:ph idx="1"/>
          </p:nvPr>
        </p:nvSpPr>
        <p:spPr>
          <a:xfrm>
            <a:off x="1963554" y="3012707"/>
            <a:ext cx="9091300" cy="2453638"/>
          </a:xfrm>
        </p:spPr>
        <p:txBody>
          <a:bodyPr/>
          <a:lstStyle/>
          <a:p>
            <a:r>
              <a:rPr lang="en-US" dirty="0">
                <a:solidFill>
                  <a:srgbClr val="0070C0"/>
                </a:solidFill>
              </a:rPr>
              <a:t> Project</a:t>
            </a:r>
            <a:r>
              <a:rPr lang="en-US" dirty="0"/>
              <a:t>: </a:t>
            </a:r>
            <a:r>
              <a:rPr lang="en-US" dirty="0" err="1"/>
              <a:t>django</a:t>
            </a:r>
            <a:r>
              <a:rPr lang="en-US" dirty="0"/>
              <a:t>-admin </a:t>
            </a:r>
            <a:r>
              <a:rPr lang="en-US" dirty="0" err="1"/>
              <a:t>startproject</a:t>
            </a:r>
            <a:r>
              <a:rPr lang="en-US" dirty="0"/>
              <a:t> </a:t>
            </a:r>
            <a:r>
              <a:rPr lang="en-US" dirty="0" err="1"/>
              <a:t>project_name</a:t>
            </a:r>
            <a:r>
              <a:rPr lang="en-US" dirty="0"/>
              <a:t> </a:t>
            </a:r>
          </a:p>
          <a:p>
            <a:r>
              <a:rPr lang="en-US" dirty="0">
                <a:solidFill>
                  <a:srgbClr val="0070C0"/>
                </a:solidFill>
              </a:rPr>
              <a:t> App: </a:t>
            </a:r>
            <a:r>
              <a:rPr lang="en-US" dirty="0"/>
              <a:t>python manage.py </a:t>
            </a:r>
            <a:r>
              <a:rPr lang="en-US" dirty="0" err="1"/>
              <a:t>startapp</a:t>
            </a:r>
            <a:r>
              <a:rPr lang="en-US" dirty="0"/>
              <a:t> </a:t>
            </a:r>
            <a:r>
              <a:rPr lang="en-US" dirty="0" err="1"/>
              <a:t>app_name</a:t>
            </a:r>
            <a:endParaRPr lang="en-US" dirty="0"/>
          </a:p>
        </p:txBody>
      </p:sp>
    </p:spTree>
    <p:extLst>
      <p:ext uri="{BB962C8B-B14F-4D97-AF65-F5344CB8AC3E}">
        <p14:creationId xmlns:p14="http://schemas.microsoft.com/office/powerpoint/2010/main" val="3226845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D0291-5A86-48ED-BB5C-830E1DF289C4}"/>
              </a:ext>
            </a:extLst>
          </p:cNvPr>
          <p:cNvSpPr>
            <a:spLocks noGrp="1"/>
          </p:cNvSpPr>
          <p:nvPr>
            <p:ph type="title"/>
          </p:nvPr>
        </p:nvSpPr>
        <p:spPr/>
        <p:txBody>
          <a:bodyPr/>
          <a:lstStyle/>
          <a:p>
            <a:r>
              <a:rPr lang="en-US" dirty="0"/>
              <a:t>Create a directory/folder from CMD:</a:t>
            </a:r>
          </a:p>
        </p:txBody>
      </p:sp>
      <p:sp>
        <p:nvSpPr>
          <p:cNvPr id="3" name="Content Placeholder 2">
            <a:extLst>
              <a:ext uri="{FF2B5EF4-FFF2-40B4-BE49-F238E27FC236}">
                <a16:creationId xmlns:a16="http://schemas.microsoft.com/office/drawing/2014/main" id="{BC07088E-74C0-474B-8E4E-C23D90F88B08}"/>
              </a:ext>
            </a:extLst>
          </p:cNvPr>
          <p:cNvSpPr>
            <a:spLocks noGrp="1"/>
          </p:cNvSpPr>
          <p:nvPr>
            <p:ph idx="1"/>
          </p:nvPr>
        </p:nvSpPr>
        <p:spPr/>
        <p:txBody>
          <a:bodyPr/>
          <a:lstStyle/>
          <a:p>
            <a:pPr marL="0" indent="0">
              <a:buNone/>
            </a:pPr>
            <a:r>
              <a:rPr lang="en-US" dirty="0"/>
              <a:t>Change drive: drive name(:) exp- d: (enter)</a:t>
            </a:r>
          </a:p>
          <a:p>
            <a:pPr marL="0" indent="0">
              <a:buNone/>
            </a:pPr>
            <a:endParaRPr lang="en-US" dirty="0"/>
          </a:p>
          <a:p>
            <a:pPr marL="0" indent="0">
              <a:buNone/>
            </a:pPr>
            <a:endParaRPr lang="en-US" dirty="0"/>
          </a:p>
          <a:p>
            <a:pPr marL="0" indent="0">
              <a:buNone/>
            </a:pPr>
            <a:r>
              <a:rPr lang="en-US" dirty="0" err="1"/>
              <a:t>Cmd</a:t>
            </a:r>
            <a:r>
              <a:rPr lang="en-US" dirty="0"/>
              <a:t>: </a:t>
            </a:r>
            <a:r>
              <a:rPr lang="en-US" dirty="0" err="1"/>
              <a:t>mkdir</a:t>
            </a:r>
            <a:r>
              <a:rPr lang="en-US" dirty="0"/>
              <a:t> (folder name)</a:t>
            </a:r>
          </a:p>
          <a:p>
            <a:pPr marL="0" indent="0">
              <a:buNone/>
            </a:pPr>
            <a:endParaRPr lang="en-US" dirty="0"/>
          </a:p>
          <a:p>
            <a:pPr marL="0" indent="0">
              <a:buNone/>
            </a:pPr>
            <a:br>
              <a:rPr lang="en-US" dirty="0"/>
            </a:br>
            <a:r>
              <a:rPr lang="en-US" dirty="0"/>
              <a:t>change directory: cd (folder name)</a:t>
            </a:r>
          </a:p>
        </p:txBody>
      </p:sp>
      <p:pic>
        <p:nvPicPr>
          <p:cNvPr id="4" name="Picture 3">
            <a:extLst>
              <a:ext uri="{FF2B5EF4-FFF2-40B4-BE49-F238E27FC236}">
                <a16:creationId xmlns:a16="http://schemas.microsoft.com/office/drawing/2014/main" id="{487109C9-1CC2-4794-9618-E115FB07CF22}"/>
              </a:ext>
            </a:extLst>
          </p:cNvPr>
          <p:cNvPicPr>
            <a:picLocks noChangeAspect="1"/>
          </p:cNvPicPr>
          <p:nvPr/>
        </p:nvPicPr>
        <p:blipFill>
          <a:blip r:embed="rId2"/>
          <a:stretch>
            <a:fillRect/>
          </a:stretch>
        </p:blipFill>
        <p:spPr>
          <a:xfrm>
            <a:off x="2351425" y="2450833"/>
            <a:ext cx="3943350" cy="1028700"/>
          </a:xfrm>
          <a:prstGeom prst="rect">
            <a:avLst/>
          </a:prstGeom>
        </p:spPr>
      </p:pic>
      <p:pic>
        <p:nvPicPr>
          <p:cNvPr id="5" name="Picture 4">
            <a:extLst>
              <a:ext uri="{FF2B5EF4-FFF2-40B4-BE49-F238E27FC236}">
                <a16:creationId xmlns:a16="http://schemas.microsoft.com/office/drawing/2014/main" id="{661AE257-CFA8-4EA7-8794-5B9057EC2664}"/>
              </a:ext>
            </a:extLst>
          </p:cNvPr>
          <p:cNvPicPr>
            <a:picLocks noChangeAspect="1"/>
          </p:cNvPicPr>
          <p:nvPr/>
        </p:nvPicPr>
        <p:blipFill>
          <a:blip r:embed="rId3"/>
          <a:stretch>
            <a:fillRect/>
          </a:stretch>
        </p:blipFill>
        <p:spPr>
          <a:xfrm>
            <a:off x="3544955" y="3914634"/>
            <a:ext cx="1871140" cy="872311"/>
          </a:xfrm>
          <a:prstGeom prst="rect">
            <a:avLst/>
          </a:prstGeom>
        </p:spPr>
      </p:pic>
      <p:pic>
        <p:nvPicPr>
          <p:cNvPr id="6" name="Picture 5">
            <a:extLst>
              <a:ext uri="{FF2B5EF4-FFF2-40B4-BE49-F238E27FC236}">
                <a16:creationId xmlns:a16="http://schemas.microsoft.com/office/drawing/2014/main" id="{C422AD08-13FF-4705-B07D-9249731DCDAA}"/>
              </a:ext>
            </a:extLst>
          </p:cNvPr>
          <p:cNvPicPr>
            <a:picLocks noChangeAspect="1"/>
          </p:cNvPicPr>
          <p:nvPr/>
        </p:nvPicPr>
        <p:blipFill>
          <a:blip r:embed="rId4"/>
          <a:stretch>
            <a:fillRect/>
          </a:stretch>
        </p:blipFill>
        <p:spPr>
          <a:xfrm>
            <a:off x="5636895" y="5062881"/>
            <a:ext cx="2381250" cy="990600"/>
          </a:xfrm>
          <a:prstGeom prst="rect">
            <a:avLst/>
          </a:prstGeom>
        </p:spPr>
      </p:pic>
    </p:spTree>
    <p:extLst>
      <p:ext uri="{BB962C8B-B14F-4D97-AF65-F5344CB8AC3E}">
        <p14:creationId xmlns:p14="http://schemas.microsoft.com/office/powerpoint/2010/main" val="27909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6BB3D-F2B4-419E-A1B1-86510B7B7902}"/>
              </a:ext>
            </a:extLst>
          </p:cNvPr>
          <p:cNvSpPr>
            <a:spLocks noGrp="1"/>
          </p:cNvSpPr>
          <p:nvPr>
            <p:ph type="title"/>
          </p:nvPr>
        </p:nvSpPr>
        <p:spPr/>
        <p:txBody>
          <a:bodyPr/>
          <a:lstStyle/>
          <a:p>
            <a:pPr algn="l"/>
            <a:r>
              <a:rPr lang="en-US" dirty="0"/>
              <a:t>Virtual environment Create.</a:t>
            </a:r>
          </a:p>
        </p:txBody>
      </p:sp>
      <p:sp>
        <p:nvSpPr>
          <p:cNvPr id="3" name="Content Placeholder 2">
            <a:extLst>
              <a:ext uri="{FF2B5EF4-FFF2-40B4-BE49-F238E27FC236}">
                <a16:creationId xmlns:a16="http://schemas.microsoft.com/office/drawing/2014/main" id="{0CA77CF7-19DD-40D4-AFE4-6B2A1B274108}"/>
              </a:ext>
            </a:extLst>
          </p:cNvPr>
          <p:cNvSpPr>
            <a:spLocks noGrp="1"/>
          </p:cNvSpPr>
          <p:nvPr>
            <p:ph idx="1"/>
          </p:nvPr>
        </p:nvSpPr>
        <p:spPr/>
        <p:txBody>
          <a:bodyPr/>
          <a:lstStyle/>
          <a:p>
            <a:r>
              <a:rPr lang="en-US" dirty="0"/>
              <a:t>Virtual Environment Create:</a:t>
            </a:r>
          </a:p>
          <a:p>
            <a:pPr marL="0" indent="0">
              <a:buNone/>
            </a:pPr>
            <a:r>
              <a:rPr lang="en-US" dirty="0"/>
              <a:t>Command </a:t>
            </a:r>
            <a:r>
              <a:rPr lang="en-US" dirty="0" err="1"/>
              <a:t>cmd</a:t>
            </a:r>
            <a:r>
              <a:rPr lang="en-US" dirty="0"/>
              <a:t>: python –m </a:t>
            </a:r>
            <a:r>
              <a:rPr lang="en-US" dirty="0" err="1"/>
              <a:t>venv</a:t>
            </a:r>
            <a:r>
              <a:rPr lang="en-US" dirty="0"/>
              <a:t> env (name)</a:t>
            </a:r>
          </a:p>
          <a:p>
            <a:pPr marL="0" indent="0">
              <a:buNone/>
            </a:pPr>
            <a:endParaRPr lang="en-US" dirty="0"/>
          </a:p>
          <a:p>
            <a:pPr marL="0" indent="0">
              <a:buNone/>
            </a:pPr>
            <a:r>
              <a:rPr lang="en-US" dirty="0"/>
              <a:t>Terminal          New Terminal  	     Command Prompt</a:t>
            </a:r>
            <a:br>
              <a:rPr lang="en-US" dirty="0"/>
            </a:br>
            <a:endParaRPr lang="en-US" dirty="0"/>
          </a:p>
          <a:p>
            <a:pPr marL="0" indent="0">
              <a:buNone/>
            </a:pPr>
            <a:r>
              <a:rPr lang="en-US" dirty="0"/>
              <a:t>Then, Env 	Script       (Active) click and drop (Enter).</a:t>
            </a:r>
          </a:p>
          <a:p>
            <a:pPr marL="0" indent="0">
              <a:buNone/>
            </a:pPr>
            <a:endParaRPr lang="en-US" dirty="0"/>
          </a:p>
          <a:p>
            <a:pPr marL="0" indent="0">
              <a:buNone/>
            </a:pPr>
            <a:endParaRPr lang="en-US" dirty="0"/>
          </a:p>
        </p:txBody>
      </p:sp>
      <p:cxnSp>
        <p:nvCxnSpPr>
          <p:cNvPr id="5" name="Straight Arrow Connector 4">
            <a:extLst>
              <a:ext uri="{FF2B5EF4-FFF2-40B4-BE49-F238E27FC236}">
                <a16:creationId xmlns:a16="http://schemas.microsoft.com/office/drawing/2014/main" id="{972B12D0-4F2E-4AD9-9521-32608428AE05}"/>
              </a:ext>
            </a:extLst>
          </p:cNvPr>
          <p:cNvCxnSpPr/>
          <p:nvPr/>
        </p:nvCxnSpPr>
        <p:spPr>
          <a:xfrm>
            <a:off x="2774023" y="3778321"/>
            <a:ext cx="390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A8885DA-B144-4304-B9A9-D169C8D35307}"/>
              </a:ext>
            </a:extLst>
          </p:cNvPr>
          <p:cNvCxnSpPr>
            <a:cxnSpLocks/>
          </p:cNvCxnSpPr>
          <p:nvPr/>
        </p:nvCxnSpPr>
        <p:spPr>
          <a:xfrm>
            <a:off x="5166190" y="3778321"/>
            <a:ext cx="390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13857A4-73C2-4B92-9EB5-EA44BF574464}"/>
              </a:ext>
            </a:extLst>
          </p:cNvPr>
          <p:cNvCxnSpPr/>
          <p:nvPr/>
        </p:nvCxnSpPr>
        <p:spPr>
          <a:xfrm>
            <a:off x="4149048" y="4627651"/>
            <a:ext cx="390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AF16282-DDBE-4163-8330-41CBE8ED4352}"/>
              </a:ext>
            </a:extLst>
          </p:cNvPr>
          <p:cNvCxnSpPr/>
          <p:nvPr/>
        </p:nvCxnSpPr>
        <p:spPr>
          <a:xfrm>
            <a:off x="2926423" y="4627651"/>
            <a:ext cx="390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669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B66C-6C68-4BE3-B29E-3646203356B2}"/>
              </a:ext>
            </a:extLst>
          </p:cNvPr>
          <p:cNvSpPr>
            <a:spLocks noGrp="1"/>
          </p:cNvSpPr>
          <p:nvPr>
            <p:ph type="title"/>
          </p:nvPr>
        </p:nvSpPr>
        <p:spPr/>
        <p:txBody>
          <a:bodyPr/>
          <a:lstStyle/>
          <a:p>
            <a:r>
              <a:rPr lang="en-US" dirty="0"/>
              <a:t>Django Installation:</a:t>
            </a:r>
          </a:p>
        </p:txBody>
      </p:sp>
      <p:sp>
        <p:nvSpPr>
          <p:cNvPr id="3" name="Content Placeholder 2">
            <a:extLst>
              <a:ext uri="{FF2B5EF4-FFF2-40B4-BE49-F238E27FC236}">
                <a16:creationId xmlns:a16="http://schemas.microsoft.com/office/drawing/2014/main" id="{DD533C37-5445-4E9F-A80D-C63F56D26E41}"/>
              </a:ext>
            </a:extLst>
          </p:cNvPr>
          <p:cNvSpPr>
            <a:spLocks noGrp="1"/>
          </p:cNvSpPr>
          <p:nvPr>
            <p:ph idx="1"/>
          </p:nvPr>
        </p:nvSpPr>
        <p:spPr/>
        <p:txBody>
          <a:bodyPr/>
          <a:lstStyle/>
          <a:p>
            <a:r>
              <a:rPr lang="en-US" dirty="0"/>
              <a:t>Command : (env) D:\ecommerce&gt;pip install Django (Enter)</a:t>
            </a:r>
          </a:p>
          <a:p>
            <a:endParaRPr lang="en-US" dirty="0"/>
          </a:p>
        </p:txBody>
      </p:sp>
      <p:pic>
        <p:nvPicPr>
          <p:cNvPr id="6" name="Picture 5">
            <a:extLst>
              <a:ext uri="{FF2B5EF4-FFF2-40B4-BE49-F238E27FC236}">
                <a16:creationId xmlns:a16="http://schemas.microsoft.com/office/drawing/2014/main" id="{1790BA86-6C55-451C-B483-EBBDF4E8CFAE}"/>
              </a:ext>
            </a:extLst>
          </p:cNvPr>
          <p:cNvPicPr>
            <a:picLocks noChangeAspect="1"/>
          </p:cNvPicPr>
          <p:nvPr/>
        </p:nvPicPr>
        <p:blipFill>
          <a:blip r:embed="rId2"/>
          <a:stretch>
            <a:fillRect/>
          </a:stretch>
        </p:blipFill>
        <p:spPr>
          <a:xfrm>
            <a:off x="3576637" y="3044628"/>
            <a:ext cx="5038725" cy="1590675"/>
          </a:xfrm>
          <a:prstGeom prst="rect">
            <a:avLst/>
          </a:prstGeom>
        </p:spPr>
      </p:pic>
    </p:spTree>
    <p:extLst>
      <p:ext uri="{BB962C8B-B14F-4D97-AF65-F5344CB8AC3E}">
        <p14:creationId xmlns:p14="http://schemas.microsoft.com/office/powerpoint/2010/main" val="1818608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3D791-6BB5-4A1C-829C-973C93B66C7B}"/>
              </a:ext>
            </a:extLst>
          </p:cNvPr>
          <p:cNvSpPr>
            <a:spLocks noGrp="1"/>
          </p:cNvSpPr>
          <p:nvPr>
            <p:ph type="title"/>
          </p:nvPr>
        </p:nvSpPr>
        <p:spPr/>
        <p:txBody>
          <a:bodyPr/>
          <a:lstStyle/>
          <a:p>
            <a:r>
              <a:rPr lang="en-US" dirty="0"/>
              <a:t>Project create </a:t>
            </a:r>
            <a:r>
              <a:rPr lang="en-US" dirty="0" err="1"/>
              <a:t>commad</a:t>
            </a:r>
            <a:endParaRPr lang="en-US" dirty="0"/>
          </a:p>
        </p:txBody>
      </p:sp>
      <p:sp>
        <p:nvSpPr>
          <p:cNvPr id="3" name="Content Placeholder 2">
            <a:extLst>
              <a:ext uri="{FF2B5EF4-FFF2-40B4-BE49-F238E27FC236}">
                <a16:creationId xmlns:a16="http://schemas.microsoft.com/office/drawing/2014/main" id="{C625C714-5D90-47F1-8ADD-6D3AEDCA696A}"/>
              </a:ext>
            </a:extLst>
          </p:cNvPr>
          <p:cNvSpPr>
            <a:spLocks noGrp="1"/>
          </p:cNvSpPr>
          <p:nvPr>
            <p:ph idx="1"/>
          </p:nvPr>
        </p:nvSpPr>
        <p:spPr/>
        <p:txBody>
          <a:bodyPr/>
          <a:lstStyle/>
          <a:p>
            <a:r>
              <a:rPr lang="en-US" dirty="0"/>
              <a:t>Command (</a:t>
            </a:r>
            <a:r>
              <a:rPr lang="en-US" dirty="0" err="1"/>
              <a:t>cmd</a:t>
            </a:r>
            <a:r>
              <a:rPr lang="en-US" dirty="0"/>
              <a:t>): </a:t>
            </a:r>
            <a:r>
              <a:rPr lang="en-US" dirty="0" err="1"/>
              <a:t>django</a:t>
            </a:r>
            <a:r>
              <a:rPr lang="en-US" dirty="0"/>
              <a:t>-admin </a:t>
            </a:r>
            <a:r>
              <a:rPr lang="en-US" dirty="0" err="1"/>
              <a:t>startproject</a:t>
            </a:r>
            <a:r>
              <a:rPr lang="en-US" dirty="0"/>
              <a:t> (Project Name) then enter</a:t>
            </a:r>
          </a:p>
          <a:p>
            <a:endParaRPr lang="en-US" dirty="0"/>
          </a:p>
          <a:p>
            <a:endParaRPr lang="en-US" dirty="0"/>
          </a:p>
          <a:p>
            <a:endParaRPr lang="en-US" dirty="0"/>
          </a:p>
          <a:p>
            <a:endParaRPr lang="en-US" dirty="0"/>
          </a:p>
          <a:p>
            <a:pPr marL="0" indent="0">
              <a:buNone/>
            </a:pPr>
            <a:r>
              <a:rPr lang="en-US" dirty="0"/>
              <a:t>*Go to the Project: cd (Project Name)</a:t>
            </a:r>
          </a:p>
        </p:txBody>
      </p:sp>
      <p:pic>
        <p:nvPicPr>
          <p:cNvPr id="4" name="Picture 3">
            <a:extLst>
              <a:ext uri="{FF2B5EF4-FFF2-40B4-BE49-F238E27FC236}">
                <a16:creationId xmlns:a16="http://schemas.microsoft.com/office/drawing/2014/main" id="{5761BA8B-D30E-43F4-97FB-763CF3338913}"/>
              </a:ext>
            </a:extLst>
          </p:cNvPr>
          <p:cNvPicPr>
            <a:picLocks noChangeAspect="1"/>
          </p:cNvPicPr>
          <p:nvPr/>
        </p:nvPicPr>
        <p:blipFill>
          <a:blip r:embed="rId2"/>
          <a:stretch>
            <a:fillRect/>
          </a:stretch>
        </p:blipFill>
        <p:spPr>
          <a:xfrm>
            <a:off x="2976562" y="2971800"/>
            <a:ext cx="6238875" cy="914400"/>
          </a:xfrm>
          <a:prstGeom prst="rect">
            <a:avLst/>
          </a:prstGeom>
        </p:spPr>
      </p:pic>
      <p:pic>
        <p:nvPicPr>
          <p:cNvPr id="5" name="Picture 4">
            <a:extLst>
              <a:ext uri="{FF2B5EF4-FFF2-40B4-BE49-F238E27FC236}">
                <a16:creationId xmlns:a16="http://schemas.microsoft.com/office/drawing/2014/main" id="{398F8E66-824E-443F-A408-33142976F8F4}"/>
              </a:ext>
            </a:extLst>
          </p:cNvPr>
          <p:cNvPicPr>
            <a:picLocks noChangeAspect="1"/>
          </p:cNvPicPr>
          <p:nvPr/>
        </p:nvPicPr>
        <p:blipFill>
          <a:blip r:embed="rId3"/>
          <a:stretch>
            <a:fillRect/>
          </a:stretch>
        </p:blipFill>
        <p:spPr>
          <a:xfrm>
            <a:off x="3999055" y="5013907"/>
            <a:ext cx="3762375" cy="904875"/>
          </a:xfrm>
          <a:prstGeom prst="rect">
            <a:avLst/>
          </a:prstGeom>
        </p:spPr>
      </p:pic>
    </p:spTree>
    <p:extLst>
      <p:ext uri="{BB962C8B-B14F-4D97-AF65-F5344CB8AC3E}">
        <p14:creationId xmlns:p14="http://schemas.microsoft.com/office/powerpoint/2010/main" val="38218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DCEF6-C2B0-4E99-AC67-6D76223C6BD0}"/>
              </a:ext>
            </a:extLst>
          </p:cNvPr>
          <p:cNvSpPr>
            <a:spLocks noGrp="1"/>
          </p:cNvSpPr>
          <p:nvPr>
            <p:ph type="title"/>
          </p:nvPr>
        </p:nvSpPr>
        <p:spPr>
          <a:xfrm>
            <a:off x="838200" y="365125"/>
            <a:ext cx="9898294" cy="528727"/>
          </a:xfrm>
        </p:spPr>
        <p:txBody>
          <a:bodyPr>
            <a:normAutofit fontScale="90000"/>
          </a:bodyPr>
          <a:lstStyle/>
          <a:p>
            <a:r>
              <a:rPr lang="en-US" dirty="0"/>
              <a:t>Django Project Run</a:t>
            </a:r>
          </a:p>
        </p:txBody>
      </p:sp>
      <p:sp>
        <p:nvSpPr>
          <p:cNvPr id="3" name="Content Placeholder 2">
            <a:extLst>
              <a:ext uri="{FF2B5EF4-FFF2-40B4-BE49-F238E27FC236}">
                <a16:creationId xmlns:a16="http://schemas.microsoft.com/office/drawing/2014/main" id="{909D3B2D-AEA4-49FD-8BAB-2E7BE71DAF61}"/>
              </a:ext>
            </a:extLst>
          </p:cNvPr>
          <p:cNvSpPr>
            <a:spLocks noGrp="1"/>
          </p:cNvSpPr>
          <p:nvPr>
            <p:ph idx="1"/>
          </p:nvPr>
        </p:nvSpPr>
        <p:spPr>
          <a:xfrm>
            <a:off x="-71919" y="1047964"/>
            <a:ext cx="13438597" cy="5128999"/>
          </a:xfrm>
        </p:spPr>
        <p:txBody>
          <a:bodyPr/>
          <a:lstStyle/>
          <a:p>
            <a:r>
              <a:rPr lang="en-US" dirty="0"/>
              <a:t>Current Location check: </a:t>
            </a:r>
            <a:r>
              <a:rPr lang="en-US" dirty="0" err="1"/>
              <a:t>dir</a:t>
            </a:r>
            <a:r>
              <a:rPr lang="en-US" dirty="0"/>
              <a:t> (Enter)</a:t>
            </a:r>
          </a:p>
          <a:p>
            <a:endParaRPr lang="en-US" dirty="0"/>
          </a:p>
          <a:p>
            <a:endParaRPr lang="en-US" dirty="0"/>
          </a:p>
          <a:p>
            <a:endParaRPr lang="en-US" dirty="0"/>
          </a:p>
          <a:p>
            <a:endParaRPr lang="en-US" dirty="0"/>
          </a:p>
          <a:p>
            <a:endParaRPr lang="en-US" dirty="0"/>
          </a:p>
          <a:p>
            <a:pPr marL="0" indent="0">
              <a:buNone/>
            </a:pPr>
            <a:r>
              <a:rPr lang="en-US" dirty="0"/>
              <a:t>Django Project run </a:t>
            </a:r>
            <a:r>
              <a:rPr lang="en-US" dirty="0" err="1"/>
              <a:t>cmd</a:t>
            </a:r>
            <a:r>
              <a:rPr lang="en-US" dirty="0"/>
              <a:t>: python manage.py </a:t>
            </a:r>
            <a:r>
              <a:rPr lang="en-US" dirty="0" err="1"/>
              <a:t>runserver</a:t>
            </a:r>
            <a:r>
              <a:rPr lang="en-US" dirty="0"/>
              <a:t> (url: http://127.0.0.1:8000/)</a:t>
            </a:r>
          </a:p>
        </p:txBody>
      </p:sp>
      <p:pic>
        <p:nvPicPr>
          <p:cNvPr id="4" name="Picture 3">
            <a:extLst>
              <a:ext uri="{FF2B5EF4-FFF2-40B4-BE49-F238E27FC236}">
                <a16:creationId xmlns:a16="http://schemas.microsoft.com/office/drawing/2014/main" id="{54FFACD4-76E2-4F7A-B215-9FE2192BA450}"/>
              </a:ext>
            </a:extLst>
          </p:cNvPr>
          <p:cNvPicPr>
            <a:picLocks noChangeAspect="1"/>
          </p:cNvPicPr>
          <p:nvPr/>
        </p:nvPicPr>
        <p:blipFill>
          <a:blip r:embed="rId2"/>
          <a:stretch>
            <a:fillRect/>
          </a:stretch>
        </p:blipFill>
        <p:spPr>
          <a:xfrm>
            <a:off x="4414435" y="1047964"/>
            <a:ext cx="4465888" cy="2707037"/>
          </a:xfrm>
          <a:prstGeom prst="rect">
            <a:avLst/>
          </a:prstGeom>
        </p:spPr>
      </p:pic>
      <p:pic>
        <p:nvPicPr>
          <p:cNvPr id="5" name="Picture 4">
            <a:extLst>
              <a:ext uri="{FF2B5EF4-FFF2-40B4-BE49-F238E27FC236}">
                <a16:creationId xmlns:a16="http://schemas.microsoft.com/office/drawing/2014/main" id="{DC20CCCF-575C-40CC-BFF8-96BC1FE7DE4F}"/>
              </a:ext>
            </a:extLst>
          </p:cNvPr>
          <p:cNvPicPr>
            <a:picLocks noChangeAspect="1"/>
          </p:cNvPicPr>
          <p:nvPr/>
        </p:nvPicPr>
        <p:blipFill>
          <a:blip r:embed="rId3"/>
          <a:stretch>
            <a:fillRect/>
          </a:stretch>
        </p:blipFill>
        <p:spPr>
          <a:xfrm>
            <a:off x="1495656" y="4586887"/>
            <a:ext cx="8177958" cy="2115192"/>
          </a:xfrm>
          <a:prstGeom prst="rect">
            <a:avLst/>
          </a:prstGeom>
        </p:spPr>
      </p:pic>
    </p:spTree>
    <p:extLst>
      <p:ext uri="{BB962C8B-B14F-4D97-AF65-F5344CB8AC3E}">
        <p14:creationId xmlns:p14="http://schemas.microsoft.com/office/powerpoint/2010/main" val="3386887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E4710-0B85-4073-BFA1-C3A21D0A0181}"/>
              </a:ext>
            </a:extLst>
          </p:cNvPr>
          <p:cNvSpPr>
            <a:spLocks noGrp="1"/>
          </p:cNvSpPr>
          <p:nvPr>
            <p:ph type="title"/>
          </p:nvPr>
        </p:nvSpPr>
        <p:spPr/>
        <p:txBody>
          <a:bodyPr/>
          <a:lstStyle/>
          <a:p>
            <a:r>
              <a:rPr lang="en-US" dirty="0"/>
              <a:t>Django project installation successful…</a:t>
            </a:r>
          </a:p>
        </p:txBody>
      </p:sp>
      <p:pic>
        <p:nvPicPr>
          <p:cNvPr id="3" name="Picture 2">
            <a:extLst>
              <a:ext uri="{FF2B5EF4-FFF2-40B4-BE49-F238E27FC236}">
                <a16:creationId xmlns:a16="http://schemas.microsoft.com/office/drawing/2014/main" id="{74326B64-1922-4398-AC78-596410377C19}"/>
              </a:ext>
            </a:extLst>
          </p:cNvPr>
          <p:cNvPicPr>
            <a:picLocks noChangeAspect="1"/>
          </p:cNvPicPr>
          <p:nvPr/>
        </p:nvPicPr>
        <p:blipFill>
          <a:blip r:embed="rId2"/>
          <a:stretch>
            <a:fillRect/>
          </a:stretch>
        </p:blipFill>
        <p:spPr>
          <a:xfrm>
            <a:off x="2343753" y="1854093"/>
            <a:ext cx="6738601" cy="4638782"/>
          </a:xfrm>
          <a:prstGeom prst="rect">
            <a:avLst/>
          </a:prstGeom>
        </p:spPr>
      </p:pic>
    </p:spTree>
    <p:extLst>
      <p:ext uri="{BB962C8B-B14F-4D97-AF65-F5344CB8AC3E}">
        <p14:creationId xmlns:p14="http://schemas.microsoft.com/office/powerpoint/2010/main" val="2304693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100D-8384-41EF-BB46-13707BCAFB49}"/>
              </a:ext>
            </a:extLst>
          </p:cNvPr>
          <p:cNvSpPr>
            <a:spLocks noGrp="1"/>
          </p:cNvSpPr>
          <p:nvPr>
            <p:ph type="title"/>
          </p:nvPr>
        </p:nvSpPr>
        <p:spPr/>
        <p:txBody>
          <a:bodyPr/>
          <a:lstStyle/>
          <a:p>
            <a:r>
              <a:rPr lang="en-US" dirty="0"/>
              <a:t>App create 		</a:t>
            </a:r>
            <a:br>
              <a:rPr lang="en-US" dirty="0"/>
            </a:br>
            <a:endParaRPr lang="en-US" dirty="0"/>
          </a:p>
        </p:txBody>
      </p:sp>
      <p:sp>
        <p:nvSpPr>
          <p:cNvPr id="3" name="Content Placeholder 2">
            <a:extLst>
              <a:ext uri="{FF2B5EF4-FFF2-40B4-BE49-F238E27FC236}">
                <a16:creationId xmlns:a16="http://schemas.microsoft.com/office/drawing/2014/main" id="{94EEC1B1-C1B1-4A2F-8D3C-45148458A424}"/>
              </a:ext>
            </a:extLst>
          </p:cNvPr>
          <p:cNvSpPr>
            <a:spLocks noGrp="1"/>
          </p:cNvSpPr>
          <p:nvPr>
            <p:ph idx="1"/>
          </p:nvPr>
        </p:nvSpPr>
        <p:spPr/>
        <p:txBody>
          <a:bodyPr/>
          <a:lstStyle/>
          <a:p>
            <a:r>
              <a:rPr lang="en-US" dirty="0"/>
              <a:t>App create command:</a:t>
            </a:r>
            <a:br>
              <a:rPr lang="en-US" dirty="0"/>
            </a:br>
            <a:r>
              <a:rPr lang="en-US" dirty="0" err="1"/>
              <a:t>cmd</a:t>
            </a:r>
            <a:r>
              <a:rPr lang="en-US" dirty="0"/>
              <a:t>- python manage.py </a:t>
            </a:r>
            <a:r>
              <a:rPr lang="en-US" dirty="0" err="1"/>
              <a:t>startapp</a:t>
            </a:r>
            <a:r>
              <a:rPr lang="en-US" dirty="0"/>
              <a:t> (app name)</a:t>
            </a:r>
          </a:p>
          <a:p>
            <a:endParaRPr lang="en-US" dirty="0"/>
          </a:p>
          <a:p>
            <a:endParaRPr lang="en-US" dirty="0"/>
          </a:p>
          <a:p>
            <a:endParaRPr lang="en-US" dirty="0"/>
          </a:p>
          <a:p>
            <a:r>
              <a:rPr lang="en-US" dirty="0"/>
              <a:t>Again project run: python manage.py </a:t>
            </a:r>
            <a:r>
              <a:rPr lang="en-US" dirty="0" err="1"/>
              <a:t>runserver</a:t>
            </a:r>
            <a:endParaRPr lang="en-US" dirty="0"/>
          </a:p>
        </p:txBody>
      </p:sp>
      <p:pic>
        <p:nvPicPr>
          <p:cNvPr id="4" name="Picture 3">
            <a:extLst>
              <a:ext uri="{FF2B5EF4-FFF2-40B4-BE49-F238E27FC236}">
                <a16:creationId xmlns:a16="http://schemas.microsoft.com/office/drawing/2014/main" id="{81B44535-E008-4A4C-AE53-B2BD5E96A15A}"/>
              </a:ext>
            </a:extLst>
          </p:cNvPr>
          <p:cNvPicPr>
            <a:picLocks noChangeAspect="1"/>
          </p:cNvPicPr>
          <p:nvPr/>
        </p:nvPicPr>
        <p:blipFill>
          <a:blip r:embed="rId2"/>
          <a:stretch>
            <a:fillRect/>
          </a:stretch>
        </p:blipFill>
        <p:spPr>
          <a:xfrm>
            <a:off x="838200" y="2773326"/>
            <a:ext cx="8905875" cy="962025"/>
          </a:xfrm>
          <a:prstGeom prst="rect">
            <a:avLst/>
          </a:prstGeom>
        </p:spPr>
      </p:pic>
    </p:spTree>
    <p:extLst>
      <p:ext uri="{BB962C8B-B14F-4D97-AF65-F5344CB8AC3E}">
        <p14:creationId xmlns:p14="http://schemas.microsoft.com/office/powerpoint/2010/main" val="2725104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AC522-663F-4BF4-AED5-1CCC3EE945BF}"/>
              </a:ext>
            </a:extLst>
          </p:cNvPr>
          <p:cNvSpPr>
            <a:spLocks noGrp="1"/>
          </p:cNvSpPr>
          <p:nvPr>
            <p:ph type="title"/>
          </p:nvPr>
        </p:nvSpPr>
        <p:spPr/>
        <p:txBody>
          <a:bodyPr/>
          <a:lstStyle/>
          <a:p>
            <a:r>
              <a:rPr lang="en-US" dirty="0"/>
              <a:t>App connect with main project:</a:t>
            </a:r>
          </a:p>
        </p:txBody>
      </p:sp>
      <p:sp>
        <p:nvSpPr>
          <p:cNvPr id="3" name="Content Placeholder 2">
            <a:extLst>
              <a:ext uri="{FF2B5EF4-FFF2-40B4-BE49-F238E27FC236}">
                <a16:creationId xmlns:a16="http://schemas.microsoft.com/office/drawing/2014/main" id="{F6361580-80BD-422A-BBEF-4F9397D0E115}"/>
              </a:ext>
            </a:extLst>
          </p:cNvPr>
          <p:cNvSpPr>
            <a:spLocks noGrp="1"/>
          </p:cNvSpPr>
          <p:nvPr>
            <p:ph idx="1"/>
          </p:nvPr>
        </p:nvSpPr>
        <p:spPr/>
        <p:txBody>
          <a:bodyPr/>
          <a:lstStyle/>
          <a:p>
            <a:pPr marL="0" indent="0">
              <a:buNone/>
            </a:pPr>
            <a:r>
              <a:rPr lang="en-US" dirty="0" err="1"/>
              <a:t>Innter</a:t>
            </a:r>
            <a:r>
              <a:rPr lang="en-US" dirty="0"/>
              <a:t> Project (</a:t>
            </a:r>
            <a:r>
              <a:rPr lang="en-US" dirty="0" err="1"/>
              <a:t>Studymart</a:t>
            </a:r>
            <a:r>
              <a:rPr lang="en-US" dirty="0"/>
              <a:t>)- Settings.py- </a:t>
            </a:r>
            <a:r>
              <a:rPr lang="en-US" dirty="0" err="1"/>
              <a:t>Installed_app</a:t>
            </a:r>
            <a:endParaRPr lang="en-US" dirty="0"/>
          </a:p>
        </p:txBody>
      </p:sp>
      <p:pic>
        <p:nvPicPr>
          <p:cNvPr id="4" name="Picture 3">
            <a:extLst>
              <a:ext uri="{FF2B5EF4-FFF2-40B4-BE49-F238E27FC236}">
                <a16:creationId xmlns:a16="http://schemas.microsoft.com/office/drawing/2014/main" id="{DAA1B52A-590B-4CCF-98EC-05777ABD557D}"/>
              </a:ext>
            </a:extLst>
          </p:cNvPr>
          <p:cNvPicPr>
            <a:picLocks noChangeAspect="1"/>
          </p:cNvPicPr>
          <p:nvPr/>
        </p:nvPicPr>
        <p:blipFill>
          <a:blip r:embed="rId2"/>
          <a:stretch>
            <a:fillRect/>
          </a:stretch>
        </p:blipFill>
        <p:spPr>
          <a:xfrm>
            <a:off x="2975171" y="2580579"/>
            <a:ext cx="5419725" cy="3114675"/>
          </a:xfrm>
          <a:prstGeom prst="rect">
            <a:avLst/>
          </a:prstGeom>
        </p:spPr>
      </p:pic>
    </p:spTree>
    <p:extLst>
      <p:ext uri="{BB962C8B-B14F-4D97-AF65-F5344CB8AC3E}">
        <p14:creationId xmlns:p14="http://schemas.microsoft.com/office/powerpoint/2010/main" val="1476791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C21F4-26ED-44D1-8DF4-005A543A084F}"/>
              </a:ext>
            </a:extLst>
          </p:cNvPr>
          <p:cNvSpPr>
            <a:spLocks noGrp="1"/>
          </p:cNvSpPr>
          <p:nvPr>
            <p:ph type="title"/>
          </p:nvPr>
        </p:nvSpPr>
        <p:spPr>
          <a:xfrm>
            <a:off x="1534696" y="156419"/>
            <a:ext cx="9234904" cy="681782"/>
          </a:xfrm>
        </p:spPr>
        <p:txBody>
          <a:bodyPr/>
          <a:lstStyle/>
          <a:p>
            <a:r>
              <a:rPr lang="en-US" dirty="0"/>
              <a:t>Output check:</a:t>
            </a:r>
          </a:p>
        </p:txBody>
      </p:sp>
      <p:sp>
        <p:nvSpPr>
          <p:cNvPr id="3" name="Content Placeholder 2">
            <a:extLst>
              <a:ext uri="{FF2B5EF4-FFF2-40B4-BE49-F238E27FC236}">
                <a16:creationId xmlns:a16="http://schemas.microsoft.com/office/drawing/2014/main" id="{4A85FF3A-1709-46CA-B123-52A1CF9F95E1}"/>
              </a:ext>
            </a:extLst>
          </p:cNvPr>
          <p:cNvSpPr>
            <a:spLocks noGrp="1"/>
          </p:cNvSpPr>
          <p:nvPr>
            <p:ph idx="1"/>
          </p:nvPr>
        </p:nvSpPr>
        <p:spPr>
          <a:xfrm>
            <a:off x="710927" y="1060185"/>
            <a:ext cx="10574867" cy="4737630"/>
          </a:xfrm>
        </p:spPr>
        <p:txBody>
          <a:bodyPr>
            <a:normAutofit/>
          </a:bodyPr>
          <a:lstStyle/>
          <a:p>
            <a:pPr marL="0" indent="0">
              <a:buNone/>
            </a:pPr>
            <a:r>
              <a:rPr lang="en-US" dirty="0"/>
              <a:t>Go to views.py- import  - (from </a:t>
            </a:r>
            <a:r>
              <a:rPr lang="en-US" dirty="0" err="1"/>
              <a:t>django.http</a:t>
            </a:r>
            <a:r>
              <a:rPr lang="en-US" dirty="0"/>
              <a:t> import </a:t>
            </a:r>
            <a:r>
              <a:rPr lang="en-US" dirty="0" err="1"/>
              <a:t>HttpResponse</a:t>
            </a:r>
            <a:r>
              <a:rPr lang="en-US" dirty="0"/>
              <a:t>)</a:t>
            </a:r>
          </a:p>
          <a:p>
            <a:pPr marL="0" indent="0">
              <a:buNone/>
            </a:pPr>
            <a:r>
              <a:rPr lang="en-US" dirty="0"/>
              <a:t>def course(request):</a:t>
            </a:r>
          </a:p>
          <a:p>
            <a:pPr marL="0" indent="0">
              <a:buNone/>
            </a:pPr>
            <a:r>
              <a:rPr lang="en-US" dirty="0"/>
              <a:t>	return </a:t>
            </a:r>
            <a:r>
              <a:rPr lang="en-US" dirty="0" err="1"/>
              <a:t>HttpResponse</a:t>
            </a:r>
            <a:r>
              <a:rPr lang="en-US" dirty="0"/>
              <a:t>('Welcome to our </a:t>
            </a:r>
            <a:r>
              <a:rPr lang="en-US" dirty="0" err="1"/>
              <a:t>Project,Thank</a:t>
            </a:r>
            <a:r>
              <a:rPr lang="en-US" dirty="0"/>
              <a:t> you...')</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E8CE3F53-FD0E-4CC0-AE99-61A8BDEEF73F}"/>
              </a:ext>
            </a:extLst>
          </p:cNvPr>
          <p:cNvPicPr>
            <a:picLocks noChangeAspect="1"/>
          </p:cNvPicPr>
          <p:nvPr/>
        </p:nvPicPr>
        <p:blipFill>
          <a:blip r:embed="rId2"/>
          <a:stretch>
            <a:fillRect/>
          </a:stretch>
        </p:blipFill>
        <p:spPr>
          <a:xfrm>
            <a:off x="1369596" y="2776052"/>
            <a:ext cx="8927330" cy="3304742"/>
          </a:xfrm>
          <a:prstGeom prst="rect">
            <a:avLst/>
          </a:prstGeom>
        </p:spPr>
      </p:pic>
    </p:spTree>
    <p:extLst>
      <p:ext uri="{BB962C8B-B14F-4D97-AF65-F5344CB8AC3E}">
        <p14:creationId xmlns:p14="http://schemas.microsoft.com/office/powerpoint/2010/main" val="2828315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059A-E9F9-4649-B993-67F29C1B7671}"/>
              </a:ext>
            </a:extLst>
          </p:cNvPr>
          <p:cNvSpPr>
            <a:spLocks noGrp="1"/>
          </p:cNvSpPr>
          <p:nvPr>
            <p:ph type="title"/>
          </p:nvPr>
        </p:nvSpPr>
        <p:spPr>
          <a:xfrm>
            <a:off x="893852" y="359597"/>
            <a:ext cx="10459948" cy="1331092"/>
          </a:xfrm>
        </p:spPr>
        <p:txBody>
          <a:bodyPr/>
          <a:lstStyle/>
          <a:p>
            <a:r>
              <a:rPr lang="en-US" dirty="0"/>
              <a:t>Final output show:</a:t>
            </a:r>
          </a:p>
        </p:txBody>
      </p:sp>
      <p:sp>
        <p:nvSpPr>
          <p:cNvPr id="3" name="Content Placeholder 2">
            <a:extLst>
              <a:ext uri="{FF2B5EF4-FFF2-40B4-BE49-F238E27FC236}">
                <a16:creationId xmlns:a16="http://schemas.microsoft.com/office/drawing/2014/main" id="{3E1D3B95-60DA-4B6B-B308-602977A901BE}"/>
              </a:ext>
            </a:extLst>
          </p:cNvPr>
          <p:cNvSpPr>
            <a:spLocks noGrp="1"/>
          </p:cNvSpPr>
          <p:nvPr>
            <p:ph idx="1"/>
          </p:nvPr>
        </p:nvSpPr>
        <p:spPr/>
        <p:txBody>
          <a:bodyPr>
            <a:normAutofit fontScale="92500" lnSpcReduction="20000"/>
          </a:bodyPr>
          <a:lstStyle/>
          <a:p>
            <a:pPr marL="0" indent="0">
              <a:buNone/>
            </a:pPr>
            <a:r>
              <a:rPr lang="en-US" dirty="0"/>
              <a:t>Go to urls.py- import- (from courses import views) </a:t>
            </a:r>
          </a:p>
          <a:p>
            <a:pPr marL="0" indent="0">
              <a:buNone/>
            </a:pPr>
            <a:r>
              <a:rPr lang="en-US" dirty="0"/>
              <a:t> 	path('',</a:t>
            </a:r>
            <a:r>
              <a:rPr lang="en-US" dirty="0" err="1"/>
              <a:t>views.course</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Important </a:t>
            </a:r>
            <a:r>
              <a:rPr lang="en-US" dirty="0" err="1"/>
              <a:t>extention</a:t>
            </a:r>
            <a:r>
              <a:rPr lang="en-US" dirty="0"/>
              <a:t>- </a:t>
            </a:r>
            <a:r>
              <a:rPr lang="en-US" dirty="0" err="1"/>
              <a:t>sqlite</a:t>
            </a:r>
            <a:r>
              <a:rPr lang="en-US" dirty="0"/>
              <a:t> viewer, python, auto rename tag, prettier code.</a:t>
            </a:r>
          </a:p>
          <a:p>
            <a:endParaRPr lang="en-US" dirty="0"/>
          </a:p>
        </p:txBody>
      </p:sp>
      <p:pic>
        <p:nvPicPr>
          <p:cNvPr id="4" name="Picture 3">
            <a:extLst>
              <a:ext uri="{FF2B5EF4-FFF2-40B4-BE49-F238E27FC236}">
                <a16:creationId xmlns:a16="http://schemas.microsoft.com/office/drawing/2014/main" id="{2ACA557D-5537-4D52-AA98-E33A90229AFA}"/>
              </a:ext>
            </a:extLst>
          </p:cNvPr>
          <p:cNvPicPr>
            <a:picLocks noChangeAspect="1"/>
          </p:cNvPicPr>
          <p:nvPr/>
        </p:nvPicPr>
        <p:blipFill>
          <a:blip r:embed="rId2"/>
          <a:stretch>
            <a:fillRect/>
          </a:stretch>
        </p:blipFill>
        <p:spPr>
          <a:xfrm>
            <a:off x="5205573" y="2423595"/>
            <a:ext cx="4549133" cy="2494915"/>
          </a:xfrm>
          <a:prstGeom prst="rect">
            <a:avLst/>
          </a:prstGeom>
        </p:spPr>
      </p:pic>
    </p:spTree>
    <p:extLst>
      <p:ext uri="{BB962C8B-B14F-4D97-AF65-F5344CB8AC3E}">
        <p14:creationId xmlns:p14="http://schemas.microsoft.com/office/powerpoint/2010/main" val="2085378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7C0D08-C048-427F-8CEC-72B8CE4B8EF6}"/>
              </a:ext>
            </a:extLst>
          </p:cNvPr>
          <p:cNvSpPr txBox="1"/>
          <p:nvPr/>
        </p:nvSpPr>
        <p:spPr>
          <a:xfrm>
            <a:off x="3667224" y="2444816"/>
            <a:ext cx="4822257" cy="523220"/>
          </a:xfrm>
          <a:prstGeom prst="rect">
            <a:avLst/>
          </a:prstGeom>
          <a:noFill/>
        </p:spPr>
        <p:txBody>
          <a:bodyPr wrap="square" rtlCol="0">
            <a:spAutoFit/>
          </a:bodyPr>
          <a:lstStyle/>
          <a:p>
            <a:pPr algn="ctr"/>
            <a:r>
              <a:rPr lang="en-US" sz="2800" dirty="0"/>
              <a:t>Thank You…</a:t>
            </a:r>
          </a:p>
        </p:txBody>
      </p:sp>
    </p:spTree>
    <p:extLst>
      <p:ext uri="{BB962C8B-B14F-4D97-AF65-F5344CB8AC3E}">
        <p14:creationId xmlns:p14="http://schemas.microsoft.com/office/powerpoint/2010/main" val="16326689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TM10001114[[fn=Gallery]]</Template>
  <TotalTime>922</TotalTime>
  <Words>556</Words>
  <Application>Microsoft Office PowerPoint</Application>
  <PresentationFormat>Widescreen</PresentationFormat>
  <Paragraphs>80</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Palatino Linotype</vt:lpstr>
      <vt:lpstr>Gallery</vt:lpstr>
      <vt:lpstr>Rajshahi Mohila Polytechnic Institute, Rajshahi.</vt:lpstr>
      <vt:lpstr>What is Django?</vt:lpstr>
      <vt:lpstr>What is Framework? </vt:lpstr>
      <vt:lpstr>How to Django Works? </vt:lpstr>
      <vt:lpstr>What is MVT? </vt:lpstr>
      <vt:lpstr>MVT Structure? </vt:lpstr>
      <vt:lpstr>Environment Setup </vt:lpstr>
      <vt:lpstr>How to Create Project &amp; App </vt:lpstr>
      <vt:lpstr>Create a directory/folder from CMD:</vt:lpstr>
      <vt:lpstr>Virtual environment Create.</vt:lpstr>
      <vt:lpstr>Django Installation:</vt:lpstr>
      <vt:lpstr>Project create commad</vt:lpstr>
      <vt:lpstr>Django Project Run</vt:lpstr>
      <vt:lpstr>Django project installation successful…</vt:lpstr>
      <vt:lpstr>App create    </vt:lpstr>
      <vt:lpstr>App connect with main project:</vt:lpstr>
      <vt:lpstr>Output check:</vt:lpstr>
      <vt:lpstr>Final output show: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Danger Zone</dc:creator>
  <cp:lastModifiedBy>Danger Zone</cp:lastModifiedBy>
  <cp:revision>16</cp:revision>
  <dcterms:created xsi:type="dcterms:W3CDTF">2025-02-11T15:05:49Z</dcterms:created>
  <dcterms:modified xsi:type="dcterms:W3CDTF">2025-02-12T09:15:20Z</dcterms:modified>
</cp:coreProperties>
</file>